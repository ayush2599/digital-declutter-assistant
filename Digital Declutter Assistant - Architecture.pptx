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sldIdLst>
    <p:sldId id="257" r:id="rId3"/>
    <p:sldId id="259" r:id="rId4"/>
    <p:sldId id="258" r:id="rId5"/>
    <p:sldId id="256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E4E024-9C89-76C6-BDC1-9B0B44E210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6D7656D-20BD-916C-2652-B2C76B15438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C737C5-8C92-7C23-CB2A-A734D6D5AB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2EE77-277E-4485-BB46-DF160F935B5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EB3FF5E-63CC-F0F5-5628-0334B2927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EA5BE-41EB-1DBF-C4C6-EB4352131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D6A1A-36B9-4F85-A688-C77552AA4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11835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CBBFBE-994F-DE4C-2810-683DC096D2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483856D-281A-FB8C-CE53-10566783C3C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4A6CF5-8A2D-C694-D032-04EB39F578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2EE77-277E-4485-BB46-DF160F935B5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8A87DF-CE73-85D8-93E1-AC52A6B200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48802D-2063-56BE-C578-9DE6439B4A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D6A1A-36B9-4F85-A688-C77552AA4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2351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A9F8E6-2220-728F-248C-5EBC34A7D8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45F86C-F14B-4834-C12B-C51F8B00C93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B733DF2-1D6C-DE85-983D-C78C02E2DC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2EE77-277E-4485-BB46-DF160F935B5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B747503-892D-7EDC-4700-E9EBF70490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26299E-9ACB-4AE4-0D15-298D7CE400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D6A1A-36B9-4F85-A688-C77552AA4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25625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9B4ED-C88C-BC6E-8193-00F0B64A6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840794-C334-0142-0D95-D9FE309E8C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F78E662-C6BB-29B6-5BC7-55A8C408BD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3FFA328-E930-AC8D-1E5C-6ABC21E499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2EE77-277E-4485-BB46-DF160F935B5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96DFAEF-470D-863D-A894-0DED784567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07B1D81-4214-F154-DCDA-E17EFA12D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D6A1A-36B9-4F85-A688-C77552AA4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06299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AC0DE-E2EF-897F-075D-9196F44441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FDA5560-7897-313A-9132-B97E0E091B7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EDFAAE2-E851-6512-6895-1C1005D8D91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A21F87-6F7A-ADF0-D7F0-B0898FD17B4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7D662B7-F7FE-8A20-B4EF-A8AAFE3CEFA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361E1A6-AC9D-36C0-AC99-2A59DBF5AA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2EE77-277E-4485-BB46-DF160F935B5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353C433-F10C-04A8-C0B3-43797CF516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560F4CA-4B8C-2310-8BBC-E89AE1764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D6A1A-36B9-4F85-A688-C77552AA4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2338159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B7AEA1-5D0B-1B55-DD60-BB3745CF1C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A27A07C-4C1A-5FE6-4F34-55AEA7625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2EE77-277E-4485-BB46-DF160F935B5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DE4492-CA38-CC1A-06D6-0D8EEB4D37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3D26BA-54BE-39E2-00A6-FC40056C1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D6A1A-36B9-4F85-A688-C77552AA4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82227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F632F9-9092-3C07-566E-73093E412E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2EE77-277E-4485-BB46-DF160F935B5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80EB582-4A70-5C7E-E17B-208175F578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03418AB-C8BE-D91A-20D4-F6F4AD57C2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D6A1A-36B9-4F85-A688-C77552AA4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85916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261912-F7C5-8701-ECB6-5721D31ECF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4989E-9D60-49B0-8234-C0280FDC33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FB114E4-549B-41EF-DAC4-C83AB3FAC62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DD60641-2DCD-D9CB-3D4A-A329FEBFB6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2EE77-277E-4485-BB46-DF160F935B5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35033FB-CF07-F272-AEEF-4A412C176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6EA231-7BD9-8C85-25A7-571FA8A3D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D6A1A-36B9-4F85-A688-C77552AA4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9523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1EB6AC-C74E-F597-A073-BD30788B68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3AF07C2-89FA-C1CA-7445-03338CB7C85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EA90CF4-EB61-808F-E318-44E0E213221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6DD494-09B5-893A-AD00-973BFA9A25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2EE77-277E-4485-BB46-DF160F935B5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79CCE8-9E07-2830-7EBE-C7E856F065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3360E6-A464-A820-98A0-94938CF842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D6A1A-36B9-4F85-A688-C77552AA4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81303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13DAD0-F4F4-63AF-45F9-13038FF359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7CC265D-3EEA-5736-84CF-0D8FE6AD2C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A7FB254-5ED1-D118-3396-D8B5B32876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2EE77-277E-4485-BB46-DF160F935B5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325DEFE-AAE2-A453-F0B0-E0DB1262D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C2CCFD-B649-CE44-E34E-C341244578B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D6A1A-36B9-4F85-A688-C77552AA4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46226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430C07E-9544-5653-0CA5-2F972F323C5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8BA52E5-17A2-C42D-E868-2A20E43533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DEAC80-A31A-9FE6-DB49-87302E9F7D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2EE77-277E-4485-BB46-DF160F935B5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D7B711-2E40-AEC7-6813-97542966B9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9F148D-B98A-8B0B-0029-0140FCD38D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D6A1A-36B9-4F85-A688-C77552AA4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9221179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2EE77-277E-4485-BB46-DF160F935B5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D6A1A-36B9-4F85-A688-C77552AA4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569076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2EE77-277E-4485-BB46-DF160F935B5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D6A1A-36B9-4F85-A688-C77552AA4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689457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2EE77-277E-4485-BB46-DF160F935B5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D6A1A-36B9-4F85-A688-C77552AA4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16101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2EE77-277E-4485-BB46-DF160F935B5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D6A1A-36B9-4F85-A688-C77552AA4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90331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2EE77-277E-4485-BB46-DF160F935B5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D6A1A-36B9-4F85-A688-C77552AA4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2420368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2EE77-277E-4485-BB46-DF160F935B5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D6A1A-36B9-4F85-A688-C77552AA4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2195724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2EE77-277E-4485-BB46-DF160F935B5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D6A1A-36B9-4F85-A688-C77552AA4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526426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2EE77-277E-4485-BB46-DF160F935B5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D6A1A-36B9-4F85-A688-C77552AA4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7313464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2EE77-277E-4485-BB46-DF160F935B5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D6A1A-36B9-4F85-A688-C77552AA4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420807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2EE77-277E-4485-BB46-DF160F935B5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D6A1A-36B9-4F85-A688-C77552AA4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49077345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E2EE77-277E-4485-BB46-DF160F935B5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8D6A1A-36B9-4F85-A688-C77552AA4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330274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84C3221-E899-8E61-F0ED-E1244F1F12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FD3225D-2546-996B-D8A4-3E04BFF2D1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FCF927-2361-EA2E-7B4D-1A02C11681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2EE77-277E-4485-BB46-DF160F935B5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D1A965C-C22E-725B-0E74-229FC0B8A20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BFABBE-11D4-023C-2639-C25E74E7629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8D6A1A-36B9-4F85-A688-C77552AA4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649240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6E2EE77-277E-4485-BB46-DF160F935B57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8D6A1A-36B9-4F85-A688-C77552AA4B5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3002260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7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14.png"/><Relationship Id="rId18" Type="http://schemas.openxmlformats.org/officeDocument/2006/relationships/image" Target="../media/image17.svg"/><Relationship Id="rId3" Type="http://schemas.openxmlformats.org/officeDocument/2006/relationships/image" Target="../media/image4.svg"/><Relationship Id="rId21" Type="http://schemas.openxmlformats.org/officeDocument/2006/relationships/image" Target="../media/image20.png"/><Relationship Id="rId7" Type="http://schemas.openxmlformats.org/officeDocument/2006/relationships/image" Target="../media/image8.svg"/><Relationship Id="rId12" Type="http://schemas.openxmlformats.org/officeDocument/2006/relationships/image" Target="../media/image13.png"/><Relationship Id="rId17" Type="http://schemas.openxmlformats.org/officeDocument/2006/relationships/image" Target="../media/image16.png"/><Relationship Id="rId2" Type="http://schemas.openxmlformats.org/officeDocument/2006/relationships/image" Target="../media/image3.png"/><Relationship Id="rId16" Type="http://schemas.microsoft.com/office/2007/relationships/hdphoto" Target="../media/hdphoto2.wdp"/><Relationship Id="rId20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7.png"/><Relationship Id="rId11" Type="http://schemas.openxmlformats.org/officeDocument/2006/relationships/image" Target="../media/image12.png"/><Relationship Id="rId5" Type="http://schemas.openxmlformats.org/officeDocument/2006/relationships/image" Target="../media/image6.svg"/><Relationship Id="rId15" Type="http://schemas.openxmlformats.org/officeDocument/2006/relationships/image" Target="../media/image15.png"/><Relationship Id="rId10" Type="http://schemas.openxmlformats.org/officeDocument/2006/relationships/image" Target="../media/image11.png"/><Relationship Id="rId19" Type="http://schemas.openxmlformats.org/officeDocument/2006/relationships/image" Target="../media/image18.png"/><Relationship Id="rId4" Type="http://schemas.openxmlformats.org/officeDocument/2006/relationships/image" Target="../media/image5.png"/><Relationship Id="rId9" Type="http://schemas.openxmlformats.org/officeDocument/2006/relationships/image" Target="../media/image10.svg"/><Relationship Id="rId14" Type="http://schemas.microsoft.com/office/2007/relationships/hdphoto" Target="../media/hdphoto1.wdp"/><Relationship Id="rId22" Type="http://schemas.openxmlformats.org/officeDocument/2006/relationships/image" Target="../media/image2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13944BD2-5AA2-DE55-AD2B-F1E19FC7B4E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357189"/>
            <a:ext cx="12192000" cy="75723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182923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A9858687-6DF3-2679-B03A-DA64E00B81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483112"/>
            <a:ext cx="10515600" cy="991727"/>
          </a:xfrm>
          <a:solidFill>
            <a:schemeClr val="accent1">
              <a:lumMod val="75000"/>
            </a:schemeClr>
          </a:solidFill>
        </p:spPr>
        <p:txBody>
          <a:bodyPr/>
          <a:lstStyle/>
          <a:p>
            <a:r>
              <a:rPr lang="en-IN" b="1" dirty="0">
                <a:solidFill>
                  <a:schemeClr val="bg1">
                    <a:lumMod val="95000"/>
                  </a:schemeClr>
                </a:solidFill>
              </a:rPr>
              <a:t> Problem statement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7E3CEC9-266C-7619-180B-373A09F2E5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Email is where all important work begins, but also where it gets lost.</a:t>
            </a:r>
            <a:br>
              <a:rPr lang="en-US" dirty="0"/>
            </a:br>
            <a:r>
              <a:rPr lang="en-US" dirty="0"/>
              <a:t>Modern professionals rely on their inbox for tasks, deadlines, invoices, follow-ups, and opportunities, yet these critical items get buried under newsletters, promotions, and noise.</a:t>
            </a:r>
          </a:p>
          <a:p>
            <a:pPr marL="0" indent="0">
              <a:lnSpc>
                <a:spcPct val="120000"/>
              </a:lnSpc>
              <a:buNone/>
            </a:pPr>
            <a:endParaRPr lang="en-US" sz="200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As a result:</a:t>
            </a:r>
          </a:p>
          <a:p>
            <a:pPr>
              <a:lnSpc>
                <a:spcPct val="120000"/>
              </a:lnSpc>
            </a:pPr>
            <a:r>
              <a:rPr lang="en-US" dirty="0"/>
              <a:t>Important emails are missed</a:t>
            </a:r>
          </a:p>
          <a:p>
            <a:pPr>
              <a:lnSpc>
                <a:spcPct val="120000"/>
              </a:lnSpc>
            </a:pPr>
            <a:r>
              <a:rPr lang="en-US" dirty="0"/>
              <a:t>Action items are forgotten</a:t>
            </a:r>
          </a:p>
          <a:p>
            <a:pPr>
              <a:lnSpc>
                <a:spcPct val="120000"/>
              </a:lnSpc>
            </a:pPr>
            <a:r>
              <a:rPr lang="en-US" dirty="0"/>
              <a:t>Manual triage becomes overwhelming</a:t>
            </a:r>
          </a:p>
          <a:p>
            <a:pPr>
              <a:lnSpc>
                <a:spcPct val="120000"/>
              </a:lnSpc>
            </a:pPr>
            <a:r>
              <a:rPr lang="en-US" dirty="0"/>
              <a:t>Simple filter-based automation fails because it lacks real understanding</a:t>
            </a:r>
          </a:p>
          <a:p>
            <a:pPr marL="0" indent="0">
              <a:lnSpc>
                <a:spcPct val="120000"/>
              </a:lnSpc>
              <a:buNone/>
            </a:pPr>
            <a:endParaRPr lang="en-US" sz="200" dirty="0"/>
          </a:p>
          <a:p>
            <a:pPr marL="0" indent="0">
              <a:lnSpc>
                <a:spcPct val="120000"/>
              </a:lnSpc>
              <a:buNone/>
            </a:pPr>
            <a:r>
              <a:rPr lang="en-US" dirty="0"/>
              <a:t>There is a need for a smarter system that can truly </a:t>
            </a:r>
            <a:r>
              <a:rPr lang="en-US" b="1" dirty="0"/>
              <a:t>understand</a:t>
            </a:r>
            <a:r>
              <a:rPr lang="en-US" dirty="0"/>
              <a:t> emails, detect what requires action, organize it cleanly, and learn personal preferences over time.</a:t>
            </a:r>
            <a:endParaRPr lang="en-US" b="1" dirty="0"/>
          </a:p>
          <a:p>
            <a:pPr marL="0" indent="0">
              <a:lnSpc>
                <a:spcPct val="120000"/>
              </a:lnSpc>
              <a:buNone/>
            </a:pPr>
            <a:endParaRPr lang="en-US" sz="200" b="1" dirty="0"/>
          </a:p>
          <a:p>
            <a:pPr marL="0" indent="0">
              <a:lnSpc>
                <a:spcPct val="120000"/>
              </a:lnSpc>
              <a:buNone/>
            </a:pPr>
            <a:r>
              <a:rPr lang="en-US" b="1" dirty="0"/>
              <a:t>This gap is what the Digital Declutter Assistant solves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764684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02413A6C-DD11-1D17-DF91-0CC20BF0A755}"/>
              </a:ext>
            </a:extLst>
          </p:cNvPr>
          <p:cNvSpPr txBox="1">
            <a:spLocks/>
          </p:cNvSpPr>
          <p:nvPr/>
        </p:nvSpPr>
        <p:spPr>
          <a:xfrm>
            <a:off x="422706" y="257423"/>
            <a:ext cx="4515922" cy="6399015"/>
          </a:xfrm>
          <a:prstGeom prst="rect">
            <a:avLst/>
          </a:prstGeom>
          <a:solidFill>
            <a:schemeClr val="accent3">
              <a:lumMod val="40000"/>
              <a:lumOff val="60000"/>
            </a:schemeClr>
          </a:solidFill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4800" b="1" dirty="0">
                <a:solidFill>
                  <a:schemeClr val="accent5">
                    <a:lumMod val="50000"/>
                  </a:schemeClr>
                </a:solidFill>
              </a:rPr>
              <a:t> Solution Proposal</a:t>
            </a:r>
          </a:p>
          <a:p>
            <a:endParaRPr lang="en-IN" sz="4800" b="1" dirty="0">
              <a:solidFill>
                <a:schemeClr val="accent5">
                  <a:lumMod val="50000"/>
                </a:schemeClr>
              </a:solidFill>
            </a:endParaRPr>
          </a:p>
          <a:p>
            <a:r>
              <a:rPr lang="en-IN" sz="4800" b="1" dirty="0">
                <a:solidFill>
                  <a:schemeClr val="accent5">
                    <a:lumMod val="50000"/>
                  </a:schemeClr>
                </a:solidFill>
              </a:rPr>
              <a:t> </a:t>
            </a:r>
            <a:r>
              <a:rPr lang="en-IN" sz="4800" dirty="0">
                <a:solidFill>
                  <a:schemeClr val="accent5">
                    <a:lumMod val="50000"/>
                  </a:schemeClr>
                </a:solidFill>
              </a:rPr>
              <a:t>High Level</a:t>
            </a:r>
          </a:p>
          <a:p>
            <a:r>
              <a:rPr lang="en-IN" sz="4800" dirty="0">
                <a:solidFill>
                  <a:schemeClr val="accent5">
                    <a:lumMod val="50000"/>
                  </a:schemeClr>
                </a:solidFill>
              </a:rPr>
              <a:t> Architecture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62853BE-F624-F23E-BB29-33D3139B64D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38628" y="27334"/>
            <a:ext cx="6830666" cy="68306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82052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Rectangle 51">
            <a:extLst>
              <a:ext uri="{FF2B5EF4-FFF2-40B4-BE49-F238E27FC236}">
                <a16:creationId xmlns:a16="http://schemas.microsoft.com/office/drawing/2014/main" id="{337BD806-6E63-7F6A-B063-B7D5B62A4184}"/>
              </a:ext>
            </a:extLst>
          </p:cNvPr>
          <p:cNvSpPr/>
          <p:nvPr/>
        </p:nvSpPr>
        <p:spPr>
          <a:xfrm>
            <a:off x="9305160" y="2978484"/>
            <a:ext cx="1986214" cy="169784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D6E47024-A3F5-7504-7E78-DD2AC1D766FD}"/>
              </a:ext>
            </a:extLst>
          </p:cNvPr>
          <p:cNvSpPr/>
          <p:nvPr/>
        </p:nvSpPr>
        <p:spPr>
          <a:xfrm>
            <a:off x="9305160" y="5129894"/>
            <a:ext cx="1986213" cy="1559062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0A63647B-C733-D4D0-21A2-75A3D42FC9EA}"/>
              </a:ext>
            </a:extLst>
          </p:cNvPr>
          <p:cNvSpPr/>
          <p:nvPr/>
        </p:nvSpPr>
        <p:spPr>
          <a:xfrm>
            <a:off x="9305160" y="590708"/>
            <a:ext cx="2001120" cy="1934211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8" name="Rectangle 47">
            <a:extLst>
              <a:ext uri="{FF2B5EF4-FFF2-40B4-BE49-F238E27FC236}">
                <a16:creationId xmlns:a16="http://schemas.microsoft.com/office/drawing/2014/main" id="{F7981C80-EE74-0D9C-E212-049C4FD692E8}"/>
              </a:ext>
            </a:extLst>
          </p:cNvPr>
          <p:cNvSpPr/>
          <p:nvPr/>
        </p:nvSpPr>
        <p:spPr>
          <a:xfrm>
            <a:off x="2470450" y="2950270"/>
            <a:ext cx="1387793" cy="1697846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3" name="Rectangle 42">
            <a:extLst>
              <a:ext uri="{FF2B5EF4-FFF2-40B4-BE49-F238E27FC236}">
                <a16:creationId xmlns:a16="http://schemas.microsoft.com/office/drawing/2014/main" id="{39D3672F-E1E7-6585-CA58-0AD6F45BF994}"/>
              </a:ext>
            </a:extLst>
          </p:cNvPr>
          <p:cNvSpPr/>
          <p:nvPr/>
        </p:nvSpPr>
        <p:spPr>
          <a:xfrm>
            <a:off x="4511368" y="907588"/>
            <a:ext cx="3677264" cy="5781368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6A6D340A-EF25-DA18-CC01-D7DD0BBCF933}"/>
              </a:ext>
            </a:extLst>
          </p:cNvPr>
          <p:cNvSpPr/>
          <p:nvPr/>
        </p:nvSpPr>
        <p:spPr>
          <a:xfrm>
            <a:off x="5118235" y="2270994"/>
            <a:ext cx="2491018" cy="4257932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itle 3">
            <a:extLst>
              <a:ext uri="{FF2B5EF4-FFF2-40B4-BE49-F238E27FC236}">
                <a16:creationId xmlns:a16="http://schemas.microsoft.com/office/drawing/2014/main" id="{652FB27C-BDC7-E487-359C-0366BFA6F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2706" y="257424"/>
            <a:ext cx="6704042" cy="431288"/>
          </a:xfrm>
          <a:solidFill>
            <a:schemeClr val="accent1">
              <a:lumMod val="50000"/>
            </a:schemeClr>
          </a:solidFill>
        </p:spPr>
        <p:txBody>
          <a:bodyPr>
            <a:noAutofit/>
          </a:bodyPr>
          <a:lstStyle/>
          <a:p>
            <a:r>
              <a:rPr lang="en-IN" sz="3200" b="1" dirty="0">
                <a:solidFill>
                  <a:schemeClr val="bg1"/>
                </a:solidFill>
              </a:rPr>
              <a:t>Digital Declutter Assistant - Architecture</a:t>
            </a:r>
          </a:p>
        </p:txBody>
      </p:sp>
      <p:pic>
        <p:nvPicPr>
          <p:cNvPr id="7" name="Graphic 6" descr="User with solid fill">
            <a:extLst>
              <a:ext uri="{FF2B5EF4-FFF2-40B4-BE49-F238E27FC236}">
                <a16:creationId xmlns:a16="http://schemas.microsoft.com/office/drawing/2014/main" id="{9613794F-31A9-0AF0-8D8E-352A3FD735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5952" y="3506576"/>
            <a:ext cx="577645" cy="577645"/>
          </a:xfrm>
          <a:prstGeom prst="rect">
            <a:avLst/>
          </a:prstGeom>
        </p:spPr>
      </p:pic>
      <p:pic>
        <p:nvPicPr>
          <p:cNvPr id="9" name="Graphic 8" descr="Internet with solid fill">
            <a:extLst>
              <a:ext uri="{FF2B5EF4-FFF2-40B4-BE49-F238E27FC236}">
                <a16:creationId xmlns:a16="http://schemas.microsoft.com/office/drawing/2014/main" id="{42D687F2-DA9F-DFCF-1D54-D1A1E3BBA6E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806511" y="3055301"/>
            <a:ext cx="695632" cy="695632"/>
          </a:xfrm>
          <a:prstGeom prst="rect">
            <a:avLst/>
          </a:prstGeom>
        </p:spPr>
      </p:pic>
      <p:pic>
        <p:nvPicPr>
          <p:cNvPr id="11" name="Graphic 10" descr="Chat with solid fill">
            <a:extLst>
              <a:ext uri="{FF2B5EF4-FFF2-40B4-BE49-F238E27FC236}">
                <a16:creationId xmlns:a16="http://schemas.microsoft.com/office/drawing/2014/main" id="{C24D04FA-73CF-381A-F176-1AC3344F91D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40971" y="3565261"/>
            <a:ext cx="457200" cy="457200"/>
          </a:xfrm>
          <a:prstGeom prst="rect">
            <a:avLst/>
          </a:prstGeom>
        </p:spPr>
      </p:pic>
      <p:pic>
        <p:nvPicPr>
          <p:cNvPr id="13" name="Graphic 12" descr="Computer with solid fill">
            <a:extLst>
              <a:ext uri="{FF2B5EF4-FFF2-40B4-BE49-F238E27FC236}">
                <a16:creationId xmlns:a16="http://schemas.microsoft.com/office/drawing/2014/main" id="{D5F47BCD-D601-E04A-3DF8-978D18FFEB34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987993" y="1040737"/>
            <a:ext cx="684674" cy="684674"/>
          </a:xfrm>
          <a:prstGeom prst="rect">
            <a:avLst/>
          </a:prstGeom>
        </p:spPr>
      </p:pic>
      <p:sp>
        <p:nvSpPr>
          <p:cNvPr id="14" name="Rectangle 13">
            <a:extLst>
              <a:ext uri="{FF2B5EF4-FFF2-40B4-BE49-F238E27FC236}">
                <a16:creationId xmlns:a16="http://schemas.microsoft.com/office/drawing/2014/main" id="{BB6C7C1A-DA93-C93A-7357-CCF830118476}"/>
              </a:ext>
            </a:extLst>
          </p:cNvPr>
          <p:cNvSpPr/>
          <p:nvPr/>
        </p:nvSpPr>
        <p:spPr>
          <a:xfrm>
            <a:off x="5573251" y="1982172"/>
            <a:ext cx="1553497" cy="577645"/>
          </a:xfrm>
          <a:prstGeom prst="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600" dirty="0"/>
              <a:t>DigitalDeclutter</a:t>
            </a:r>
          </a:p>
          <a:p>
            <a:pPr algn="ctr"/>
            <a:r>
              <a:rPr lang="en-IN" sz="1600" dirty="0"/>
              <a:t>(LLM Agent)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0BCCF3DF-412F-6D5D-A7D7-F59692CD996C}"/>
              </a:ext>
            </a:extLst>
          </p:cNvPr>
          <p:cNvSpPr/>
          <p:nvPr/>
        </p:nvSpPr>
        <p:spPr>
          <a:xfrm>
            <a:off x="5987101" y="2849410"/>
            <a:ext cx="765123" cy="431289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Planning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EBAD365A-A582-0E47-8695-36785F2CA852}"/>
              </a:ext>
            </a:extLst>
          </p:cNvPr>
          <p:cNvSpPr/>
          <p:nvPr/>
        </p:nvSpPr>
        <p:spPr>
          <a:xfrm>
            <a:off x="5748783" y="3592307"/>
            <a:ext cx="1241758" cy="431288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Tool Selection &amp; Execution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701C0845-88B5-0F84-C91D-BDB23DF6E38D}"/>
              </a:ext>
            </a:extLst>
          </p:cNvPr>
          <p:cNvSpPr/>
          <p:nvPr/>
        </p:nvSpPr>
        <p:spPr>
          <a:xfrm>
            <a:off x="5680507" y="4331615"/>
            <a:ext cx="1378309" cy="431288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Observation + Proposal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9506E98-E897-DEAD-94EB-9324CFE52D12}"/>
              </a:ext>
            </a:extLst>
          </p:cNvPr>
          <p:cNvSpPr/>
          <p:nvPr/>
        </p:nvSpPr>
        <p:spPr>
          <a:xfrm>
            <a:off x="5680507" y="5072714"/>
            <a:ext cx="1378309" cy="431288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User Confirmation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576CED35-011E-1C2E-07D2-DD653DD351F9}"/>
              </a:ext>
            </a:extLst>
          </p:cNvPr>
          <p:cNvSpPr/>
          <p:nvPr/>
        </p:nvSpPr>
        <p:spPr>
          <a:xfrm>
            <a:off x="5680506" y="5813813"/>
            <a:ext cx="1378309" cy="431288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Action Execution + Response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30B94198-7A17-0B6F-505F-E01BD5FA0B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35001" y="745749"/>
            <a:ext cx="575051" cy="431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E9E0BD0C-9FC1-F8F4-3797-73FBCFEAD0B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06880" y="3220858"/>
            <a:ext cx="431289" cy="4312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>
            <a:extLst>
              <a:ext uri="{FF2B5EF4-FFF2-40B4-BE49-F238E27FC236}">
                <a16:creationId xmlns:a16="http://schemas.microsoft.com/office/drawing/2014/main" id="{AE44E147-7FC9-8B8C-796B-35A3D4CE96C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81141"/>
          <a:stretch>
            <a:fillRect/>
          </a:stretch>
        </p:blipFill>
        <p:spPr bwMode="auto">
          <a:xfrm>
            <a:off x="4763718" y="1169118"/>
            <a:ext cx="476332" cy="467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7C510BCE-AD01-D3BC-3219-627A5FCD79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BEBA8EAE-BF5A-486C-A8C5-ECC9F3942E4B}">
                <a14:imgProps xmlns:a14="http://schemas.microsoft.com/office/drawing/2010/main">
                  <a14:imgLayer r:embed="rId14">
                    <a14:imgEffect>
                      <a14:brightnessContrast bright="-2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66250" y="1169118"/>
            <a:ext cx="467235" cy="4672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2BA63651-B185-ACC4-9BA7-50BE58488E6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brightnessContrast bright="-40000" contrast="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79746" y="4034233"/>
            <a:ext cx="484600" cy="4312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Graphic 23" descr="Document with solid fill">
            <a:extLst>
              <a:ext uri="{FF2B5EF4-FFF2-40B4-BE49-F238E27FC236}">
                <a16:creationId xmlns:a16="http://schemas.microsoft.com/office/drawing/2014/main" id="{B8406062-D1C8-9EFA-8402-05B04E26841A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10065437" y="5252417"/>
            <a:ext cx="503169" cy="503169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A7D661CF-8F96-993D-C4EA-F445915FCFC0}"/>
              </a:ext>
            </a:extLst>
          </p:cNvPr>
          <p:cNvCxnSpPr>
            <a:stCxn id="16" idx="2"/>
            <a:endCxn id="17" idx="0"/>
          </p:cNvCxnSpPr>
          <p:nvPr/>
        </p:nvCxnSpPr>
        <p:spPr>
          <a:xfrm flipH="1">
            <a:off x="6369662" y="3280699"/>
            <a:ext cx="1" cy="31160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E382643A-05D0-1156-2976-2D735C700FFD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6369662" y="4023595"/>
            <a:ext cx="0" cy="30802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7DA0B525-24C4-0FFF-273D-9B5755822AFE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>
            <a:off x="6369662" y="4762903"/>
            <a:ext cx="0" cy="30981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CF93F117-4888-31DA-829A-9F69D283F152}"/>
              </a:ext>
            </a:extLst>
          </p:cNvPr>
          <p:cNvCxnSpPr>
            <a:cxnSpLocks/>
            <a:stCxn id="19" idx="2"/>
            <a:endCxn id="20" idx="0"/>
          </p:cNvCxnSpPr>
          <p:nvPr/>
        </p:nvCxnSpPr>
        <p:spPr>
          <a:xfrm flipH="1">
            <a:off x="6369661" y="5504002"/>
            <a:ext cx="1" cy="309811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Connector: Curved 39">
            <a:extLst>
              <a:ext uri="{FF2B5EF4-FFF2-40B4-BE49-F238E27FC236}">
                <a16:creationId xmlns:a16="http://schemas.microsoft.com/office/drawing/2014/main" id="{EF5F68F0-6E9E-7825-B4F8-9D955BA8E0AB}"/>
              </a:ext>
            </a:extLst>
          </p:cNvPr>
          <p:cNvCxnSpPr>
            <a:stCxn id="19" idx="1"/>
            <a:endCxn id="16" idx="1"/>
          </p:cNvCxnSpPr>
          <p:nvPr/>
        </p:nvCxnSpPr>
        <p:spPr>
          <a:xfrm rot="10800000" flipH="1">
            <a:off x="5680507" y="3065056"/>
            <a:ext cx="306594" cy="2223303"/>
          </a:xfrm>
          <a:prstGeom prst="curvedConnector3">
            <a:avLst>
              <a:gd name="adj1" fmla="val -135493"/>
            </a:avLst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TextBox 44">
            <a:extLst>
              <a:ext uri="{FF2B5EF4-FFF2-40B4-BE49-F238E27FC236}">
                <a16:creationId xmlns:a16="http://schemas.microsoft.com/office/drawing/2014/main" id="{83B08AA5-46AC-95BF-DD5B-88A38D98CC7D}"/>
              </a:ext>
            </a:extLst>
          </p:cNvPr>
          <p:cNvSpPr txBox="1"/>
          <p:nvPr/>
        </p:nvSpPr>
        <p:spPr>
          <a:xfrm>
            <a:off x="5819952" y="1557814"/>
            <a:ext cx="106792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Back-end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8B2E27D4-0302-CD7A-D883-28D362AA1926}"/>
              </a:ext>
            </a:extLst>
          </p:cNvPr>
          <p:cNvSpPr txBox="1"/>
          <p:nvPr/>
        </p:nvSpPr>
        <p:spPr>
          <a:xfrm>
            <a:off x="7340313" y="1678132"/>
            <a:ext cx="71910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>
                <a:solidFill>
                  <a:schemeClr val="accent3">
                    <a:lumMod val="75000"/>
                  </a:schemeClr>
                </a:solidFill>
              </a:rPr>
              <a:t>Python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6D7D44C7-ADCC-1012-E6EE-EAD3ECA4E5A6}"/>
              </a:ext>
            </a:extLst>
          </p:cNvPr>
          <p:cNvSpPr txBox="1"/>
          <p:nvPr/>
        </p:nvSpPr>
        <p:spPr>
          <a:xfrm>
            <a:off x="4640578" y="1678132"/>
            <a:ext cx="735586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>
                <a:solidFill>
                  <a:schemeClr val="accent3">
                    <a:lumMod val="75000"/>
                  </a:schemeClr>
                </a:solidFill>
              </a:rPr>
              <a:t>FastAPI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E87FCC25-7BEE-CE04-CE9F-373AB3A34BD9}"/>
              </a:ext>
            </a:extLst>
          </p:cNvPr>
          <p:cNvSpPr txBox="1"/>
          <p:nvPr/>
        </p:nvSpPr>
        <p:spPr>
          <a:xfrm>
            <a:off x="2601112" y="3575745"/>
            <a:ext cx="11271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Front-end</a:t>
            </a: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00DAA12F-A5AA-3C27-976D-0376CC17E85A}"/>
              </a:ext>
            </a:extLst>
          </p:cNvPr>
          <p:cNvSpPr txBox="1"/>
          <p:nvPr/>
        </p:nvSpPr>
        <p:spPr>
          <a:xfrm>
            <a:off x="3134877" y="4095988"/>
            <a:ext cx="5988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400" b="1" dirty="0">
                <a:solidFill>
                  <a:schemeClr val="accent3">
                    <a:lumMod val="75000"/>
                  </a:schemeClr>
                </a:solidFill>
              </a:rPr>
              <a:t>React</a:t>
            </a:r>
          </a:p>
        </p:txBody>
      </p: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8FCECA70-50E0-F9F9-A48B-EC7476D3D077}"/>
              </a:ext>
            </a:extLst>
          </p:cNvPr>
          <p:cNvCxnSpPr>
            <a:stCxn id="48" idx="3"/>
            <a:endCxn id="43" idx="1"/>
          </p:cNvCxnSpPr>
          <p:nvPr/>
        </p:nvCxnSpPr>
        <p:spPr>
          <a:xfrm flipV="1">
            <a:off x="3858243" y="3798272"/>
            <a:ext cx="653125" cy="921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B75161BD-70EB-DAD7-E6C6-73731751EC61}"/>
              </a:ext>
            </a:extLst>
          </p:cNvPr>
          <p:cNvCxnSpPr>
            <a:stCxn id="11" idx="1"/>
            <a:endCxn id="7" idx="3"/>
          </p:cNvCxnSpPr>
          <p:nvPr/>
        </p:nvCxnSpPr>
        <p:spPr>
          <a:xfrm flipH="1">
            <a:off x="1113597" y="3793861"/>
            <a:ext cx="327374" cy="1538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62C2A4D3-074C-8EEE-AD81-B523AAA8E7BA}"/>
              </a:ext>
            </a:extLst>
          </p:cNvPr>
          <p:cNvCxnSpPr>
            <a:cxnSpLocks/>
            <a:stCxn id="11" idx="3"/>
            <a:endCxn id="48" idx="1"/>
          </p:cNvCxnSpPr>
          <p:nvPr/>
        </p:nvCxnSpPr>
        <p:spPr>
          <a:xfrm>
            <a:off x="1898171" y="3793861"/>
            <a:ext cx="572279" cy="5332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4" name="Rectangle 1023">
            <a:extLst>
              <a:ext uri="{FF2B5EF4-FFF2-40B4-BE49-F238E27FC236}">
                <a16:creationId xmlns:a16="http://schemas.microsoft.com/office/drawing/2014/main" id="{E14CBF22-3522-7080-5B6B-DCD62C4EC46D}"/>
              </a:ext>
            </a:extLst>
          </p:cNvPr>
          <p:cNvSpPr/>
          <p:nvPr/>
        </p:nvSpPr>
        <p:spPr>
          <a:xfrm>
            <a:off x="9470303" y="1653914"/>
            <a:ext cx="765123" cy="285493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Fetch</a:t>
            </a:r>
          </a:p>
        </p:txBody>
      </p:sp>
      <p:sp>
        <p:nvSpPr>
          <p:cNvPr id="1025" name="Rectangle 1024">
            <a:extLst>
              <a:ext uri="{FF2B5EF4-FFF2-40B4-BE49-F238E27FC236}">
                <a16:creationId xmlns:a16="http://schemas.microsoft.com/office/drawing/2014/main" id="{55200C81-29FD-733F-A368-32C714681668}"/>
              </a:ext>
            </a:extLst>
          </p:cNvPr>
          <p:cNvSpPr/>
          <p:nvPr/>
        </p:nvSpPr>
        <p:spPr>
          <a:xfrm>
            <a:off x="10353566" y="1650533"/>
            <a:ext cx="765123" cy="285493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Delete</a:t>
            </a:r>
          </a:p>
        </p:txBody>
      </p:sp>
      <p:sp>
        <p:nvSpPr>
          <p:cNvPr id="1027" name="Rectangle 1026">
            <a:extLst>
              <a:ext uri="{FF2B5EF4-FFF2-40B4-BE49-F238E27FC236}">
                <a16:creationId xmlns:a16="http://schemas.microsoft.com/office/drawing/2014/main" id="{C764DD32-A8DF-735D-3015-B53EDC6F3240}"/>
              </a:ext>
            </a:extLst>
          </p:cNvPr>
          <p:cNvSpPr/>
          <p:nvPr/>
        </p:nvSpPr>
        <p:spPr>
          <a:xfrm>
            <a:off x="9939964" y="2072548"/>
            <a:ext cx="765123" cy="285493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Archive</a:t>
            </a:r>
          </a:p>
        </p:txBody>
      </p:sp>
      <p:sp>
        <p:nvSpPr>
          <p:cNvPr id="1029" name="TextBox 1028">
            <a:extLst>
              <a:ext uri="{FF2B5EF4-FFF2-40B4-BE49-F238E27FC236}">
                <a16:creationId xmlns:a16="http://schemas.microsoft.com/office/drawing/2014/main" id="{2F077D23-1401-F50D-B614-F215436E67D0}"/>
              </a:ext>
            </a:extLst>
          </p:cNvPr>
          <p:cNvSpPr txBox="1"/>
          <p:nvPr/>
        </p:nvSpPr>
        <p:spPr>
          <a:xfrm>
            <a:off x="9320065" y="1198224"/>
            <a:ext cx="19713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Gmail Custom Tool</a:t>
            </a:r>
          </a:p>
        </p:txBody>
      </p:sp>
      <p:sp>
        <p:nvSpPr>
          <p:cNvPr id="1030" name="TextBox 1029">
            <a:extLst>
              <a:ext uri="{FF2B5EF4-FFF2-40B4-BE49-F238E27FC236}">
                <a16:creationId xmlns:a16="http://schemas.microsoft.com/office/drawing/2014/main" id="{8D2EC5EC-37B4-61C5-6AAB-27B8D754292B}"/>
              </a:ext>
            </a:extLst>
          </p:cNvPr>
          <p:cNvSpPr txBox="1"/>
          <p:nvPr/>
        </p:nvSpPr>
        <p:spPr>
          <a:xfrm>
            <a:off x="9312612" y="3596012"/>
            <a:ext cx="200882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Notion MCP Server</a:t>
            </a:r>
          </a:p>
        </p:txBody>
      </p:sp>
      <p:sp>
        <p:nvSpPr>
          <p:cNvPr id="1031" name="Rectangle 1030">
            <a:extLst>
              <a:ext uri="{FF2B5EF4-FFF2-40B4-BE49-F238E27FC236}">
                <a16:creationId xmlns:a16="http://schemas.microsoft.com/office/drawing/2014/main" id="{8C3E6DF5-ECB4-771C-60AE-05ED62B1A509}"/>
              </a:ext>
            </a:extLst>
          </p:cNvPr>
          <p:cNvSpPr/>
          <p:nvPr/>
        </p:nvSpPr>
        <p:spPr>
          <a:xfrm>
            <a:off x="9884540" y="4084221"/>
            <a:ext cx="938052" cy="334688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Create Task</a:t>
            </a:r>
          </a:p>
        </p:txBody>
      </p:sp>
      <p:sp>
        <p:nvSpPr>
          <p:cNvPr id="1032" name="TextBox 1031">
            <a:extLst>
              <a:ext uri="{FF2B5EF4-FFF2-40B4-BE49-F238E27FC236}">
                <a16:creationId xmlns:a16="http://schemas.microsoft.com/office/drawing/2014/main" id="{4D6BFCE6-7829-271D-F483-8D5CCBAF7E8D}"/>
              </a:ext>
            </a:extLst>
          </p:cNvPr>
          <p:cNvSpPr txBox="1"/>
          <p:nvPr/>
        </p:nvSpPr>
        <p:spPr>
          <a:xfrm>
            <a:off x="9407057" y="5702678"/>
            <a:ext cx="1773627" cy="5539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Preference Store</a:t>
            </a:r>
          </a:p>
          <a:p>
            <a:pPr algn="ctr"/>
            <a:r>
              <a:rPr lang="en-IN" sz="1200" b="1" dirty="0">
                <a:solidFill>
                  <a:schemeClr val="accent1">
                    <a:lumMod val="75000"/>
                  </a:schemeClr>
                </a:solidFill>
              </a:rPr>
              <a:t>(Memory json)</a:t>
            </a:r>
          </a:p>
        </p:txBody>
      </p:sp>
      <p:sp>
        <p:nvSpPr>
          <p:cNvPr id="1035" name="Rectangle 1034">
            <a:extLst>
              <a:ext uri="{FF2B5EF4-FFF2-40B4-BE49-F238E27FC236}">
                <a16:creationId xmlns:a16="http://schemas.microsoft.com/office/drawing/2014/main" id="{D8932C94-F480-D436-474E-DD4701E5A44A}"/>
              </a:ext>
            </a:extLst>
          </p:cNvPr>
          <p:cNvSpPr/>
          <p:nvPr/>
        </p:nvSpPr>
        <p:spPr>
          <a:xfrm>
            <a:off x="9442908" y="6257332"/>
            <a:ext cx="819912" cy="334688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Rule Lookup</a:t>
            </a:r>
          </a:p>
        </p:txBody>
      </p:sp>
      <p:sp>
        <p:nvSpPr>
          <p:cNvPr id="1037" name="Rectangle 1036">
            <a:extLst>
              <a:ext uri="{FF2B5EF4-FFF2-40B4-BE49-F238E27FC236}">
                <a16:creationId xmlns:a16="http://schemas.microsoft.com/office/drawing/2014/main" id="{33CAF7E5-B9F7-016D-0DB2-8A10157A7AEC}"/>
              </a:ext>
            </a:extLst>
          </p:cNvPr>
          <p:cNvSpPr/>
          <p:nvPr/>
        </p:nvSpPr>
        <p:spPr>
          <a:xfrm>
            <a:off x="10400209" y="6256676"/>
            <a:ext cx="780475" cy="334688"/>
          </a:xfrm>
          <a:prstGeom prst="rect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1200" dirty="0"/>
              <a:t>Rule Save</a:t>
            </a:r>
          </a:p>
        </p:txBody>
      </p:sp>
      <p:cxnSp>
        <p:nvCxnSpPr>
          <p:cNvPr id="1039" name="Straight Arrow Connector 1038">
            <a:extLst>
              <a:ext uri="{FF2B5EF4-FFF2-40B4-BE49-F238E27FC236}">
                <a16:creationId xmlns:a16="http://schemas.microsoft.com/office/drawing/2014/main" id="{321AB24D-8941-C70E-C262-ABC8180485CA}"/>
              </a:ext>
            </a:extLst>
          </p:cNvPr>
          <p:cNvCxnSpPr>
            <a:cxnSpLocks/>
            <a:stCxn id="43" idx="3"/>
            <a:endCxn id="51" idx="1"/>
          </p:cNvCxnSpPr>
          <p:nvPr/>
        </p:nvCxnSpPr>
        <p:spPr>
          <a:xfrm flipV="1">
            <a:off x="8188632" y="1557814"/>
            <a:ext cx="1116528" cy="2240458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2" name="Straight Arrow Connector 1041">
            <a:extLst>
              <a:ext uri="{FF2B5EF4-FFF2-40B4-BE49-F238E27FC236}">
                <a16:creationId xmlns:a16="http://schemas.microsoft.com/office/drawing/2014/main" id="{67D7D796-449B-7E9F-AB9D-A31A32D07ABF}"/>
              </a:ext>
            </a:extLst>
          </p:cNvPr>
          <p:cNvCxnSpPr>
            <a:cxnSpLocks/>
            <a:stCxn id="43" idx="3"/>
            <a:endCxn id="53" idx="1"/>
          </p:cNvCxnSpPr>
          <p:nvPr/>
        </p:nvCxnSpPr>
        <p:spPr>
          <a:xfrm>
            <a:off x="8188632" y="3798272"/>
            <a:ext cx="1116528" cy="2111153"/>
          </a:xfrm>
          <a:prstGeom prst="straightConnector1">
            <a:avLst/>
          </a:prstGeom>
          <a:ln w="28575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5" name="Straight Arrow Connector 1044">
            <a:extLst>
              <a:ext uri="{FF2B5EF4-FFF2-40B4-BE49-F238E27FC236}">
                <a16:creationId xmlns:a16="http://schemas.microsoft.com/office/drawing/2014/main" id="{23A6EF41-967D-BE77-EB20-BA1E33DD23DA}"/>
              </a:ext>
            </a:extLst>
          </p:cNvPr>
          <p:cNvCxnSpPr>
            <a:cxnSpLocks/>
            <a:stCxn id="43" idx="3"/>
            <a:endCxn id="1030" idx="1"/>
          </p:cNvCxnSpPr>
          <p:nvPr/>
        </p:nvCxnSpPr>
        <p:spPr>
          <a:xfrm flipV="1">
            <a:off x="8188632" y="3780678"/>
            <a:ext cx="1123980" cy="1759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" name="TextBox 1047">
            <a:extLst>
              <a:ext uri="{FF2B5EF4-FFF2-40B4-BE49-F238E27FC236}">
                <a16:creationId xmlns:a16="http://schemas.microsoft.com/office/drawing/2014/main" id="{217B46E4-F759-198E-C6E9-77590B3A235B}"/>
              </a:ext>
            </a:extLst>
          </p:cNvPr>
          <p:cNvSpPr txBox="1"/>
          <p:nvPr/>
        </p:nvSpPr>
        <p:spPr>
          <a:xfrm>
            <a:off x="4834664" y="2678043"/>
            <a:ext cx="680699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r>
              <a:rPr lang="en-IN" sz="1200" b="1" dirty="0"/>
              <a:t>Session</a:t>
            </a:r>
          </a:p>
          <a:p>
            <a:r>
              <a:rPr lang="en-IN" sz="1200" b="1" dirty="0"/>
              <a:t>Context</a:t>
            </a:r>
          </a:p>
        </p:txBody>
      </p:sp>
      <p:sp>
        <p:nvSpPr>
          <p:cNvPr id="1049" name="TextBox 1048">
            <a:extLst>
              <a:ext uri="{FF2B5EF4-FFF2-40B4-BE49-F238E27FC236}">
                <a16:creationId xmlns:a16="http://schemas.microsoft.com/office/drawing/2014/main" id="{FD229508-772C-7D91-44A3-FBCB13A4D011}"/>
              </a:ext>
            </a:extLst>
          </p:cNvPr>
          <p:cNvSpPr txBox="1"/>
          <p:nvPr/>
        </p:nvSpPr>
        <p:spPr>
          <a:xfrm>
            <a:off x="3913605" y="3899708"/>
            <a:ext cx="49269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/>
              <a:t>REST</a:t>
            </a:r>
          </a:p>
        </p:txBody>
      </p:sp>
      <p:sp>
        <p:nvSpPr>
          <p:cNvPr id="1051" name="TextBox 1050">
            <a:extLst>
              <a:ext uri="{FF2B5EF4-FFF2-40B4-BE49-F238E27FC236}">
                <a16:creationId xmlns:a16="http://schemas.microsoft.com/office/drawing/2014/main" id="{AEC25189-7EE4-8759-40B8-BD01DBF2FC65}"/>
              </a:ext>
            </a:extLst>
          </p:cNvPr>
          <p:cNvSpPr txBox="1"/>
          <p:nvPr/>
        </p:nvSpPr>
        <p:spPr>
          <a:xfrm>
            <a:off x="512829" y="4146949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>
                <a:solidFill>
                  <a:schemeClr val="accent1">
                    <a:lumMod val="75000"/>
                  </a:schemeClr>
                </a:solidFill>
              </a:rPr>
              <a:t>User</a:t>
            </a:r>
          </a:p>
        </p:txBody>
      </p:sp>
      <p:sp>
        <p:nvSpPr>
          <p:cNvPr id="1061" name="Rectangle 1060">
            <a:extLst>
              <a:ext uri="{FF2B5EF4-FFF2-40B4-BE49-F238E27FC236}">
                <a16:creationId xmlns:a16="http://schemas.microsoft.com/office/drawing/2014/main" id="{FB420AE4-3A74-1134-AD01-453CB1600FC7}"/>
              </a:ext>
            </a:extLst>
          </p:cNvPr>
          <p:cNvSpPr/>
          <p:nvPr/>
        </p:nvSpPr>
        <p:spPr>
          <a:xfrm>
            <a:off x="7319993" y="4547259"/>
            <a:ext cx="651501" cy="160970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1052" name="Picture 16" descr="Gemini App icon PNG HD Download With Transparent Background | PNGHDPro">
            <a:extLst>
              <a:ext uri="{FF2B5EF4-FFF2-40B4-BE49-F238E27FC236}">
                <a16:creationId xmlns:a16="http://schemas.microsoft.com/office/drawing/2014/main" id="{C7434682-3E76-23E4-EBF4-60D40C9F0B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45544" y="5504001"/>
            <a:ext cx="555421" cy="55542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54" name="Picture 18" descr="Index - Agent Development Kit">
            <a:extLst>
              <a:ext uri="{FF2B5EF4-FFF2-40B4-BE49-F238E27FC236}">
                <a16:creationId xmlns:a16="http://schemas.microsoft.com/office/drawing/2014/main" id="{8FE0232C-2AFF-310A-8953-F65EB2D70E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7795" y="4607476"/>
            <a:ext cx="472440" cy="47244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55" name="TextBox 1054">
            <a:extLst>
              <a:ext uri="{FF2B5EF4-FFF2-40B4-BE49-F238E27FC236}">
                <a16:creationId xmlns:a16="http://schemas.microsoft.com/office/drawing/2014/main" id="{CBCA3884-E9DF-086A-C857-3848EE1D9F3D}"/>
              </a:ext>
            </a:extLst>
          </p:cNvPr>
          <p:cNvSpPr txBox="1"/>
          <p:nvPr/>
        </p:nvSpPr>
        <p:spPr>
          <a:xfrm>
            <a:off x="7281960" y="5057525"/>
            <a:ext cx="6880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200" b="1" dirty="0">
                <a:solidFill>
                  <a:schemeClr val="accent1">
                    <a:lumMod val="75000"/>
                  </a:schemeClr>
                </a:solidFill>
              </a:rPr>
              <a:t>Google </a:t>
            </a:r>
          </a:p>
          <a:p>
            <a:pPr algn="ctr"/>
            <a:r>
              <a:rPr lang="en-IN" sz="1200" b="1" dirty="0">
                <a:solidFill>
                  <a:schemeClr val="accent1">
                    <a:lumMod val="75000"/>
                  </a:schemeClr>
                </a:solidFill>
              </a:rPr>
              <a:t>ADK</a:t>
            </a:r>
          </a:p>
        </p:txBody>
      </p:sp>
      <p:sp>
        <p:nvSpPr>
          <p:cNvPr id="1056" name="TextBox 1055">
            <a:extLst>
              <a:ext uri="{FF2B5EF4-FFF2-40B4-BE49-F238E27FC236}">
                <a16:creationId xmlns:a16="http://schemas.microsoft.com/office/drawing/2014/main" id="{DBB7F708-F255-7B59-D6F0-EAC264CC8A9E}"/>
              </a:ext>
            </a:extLst>
          </p:cNvPr>
          <p:cNvSpPr txBox="1"/>
          <p:nvPr/>
        </p:nvSpPr>
        <p:spPr>
          <a:xfrm>
            <a:off x="1135581" y="3919581"/>
            <a:ext cx="11930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b="1" dirty="0"/>
              <a:t>Interactive Chat</a:t>
            </a:r>
          </a:p>
        </p:txBody>
      </p:sp>
      <p:sp>
        <p:nvSpPr>
          <p:cNvPr id="1057" name="TextBox 1056">
            <a:extLst>
              <a:ext uri="{FF2B5EF4-FFF2-40B4-BE49-F238E27FC236}">
                <a16:creationId xmlns:a16="http://schemas.microsoft.com/office/drawing/2014/main" id="{42E0E5DB-3C69-2C48-2BCE-0A3451C50FE2}"/>
              </a:ext>
            </a:extLst>
          </p:cNvPr>
          <p:cNvSpPr txBox="1"/>
          <p:nvPr/>
        </p:nvSpPr>
        <p:spPr>
          <a:xfrm>
            <a:off x="10848483" y="5229216"/>
            <a:ext cx="844847" cy="461665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IN" sz="1200" b="1" dirty="0"/>
              <a:t>Long-term</a:t>
            </a:r>
          </a:p>
          <a:p>
            <a:pPr algn="ctr"/>
            <a:r>
              <a:rPr lang="en-IN" sz="1200" b="1" dirty="0"/>
              <a:t>memory</a:t>
            </a:r>
          </a:p>
        </p:txBody>
      </p:sp>
      <p:sp>
        <p:nvSpPr>
          <p:cNvPr id="1058" name="TextBox 1057">
            <a:extLst>
              <a:ext uri="{FF2B5EF4-FFF2-40B4-BE49-F238E27FC236}">
                <a16:creationId xmlns:a16="http://schemas.microsoft.com/office/drawing/2014/main" id="{5275B10F-B8A8-3571-ED55-DA70EC294B47}"/>
              </a:ext>
            </a:extLst>
          </p:cNvPr>
          <p:cNvSpPr txBox="1"/>
          <p:nvPr/>
        </p:nvSpPr>
        <p:spPr>
          <a:xfrm>
            <a:off x="8272771" y="4600466"/>
            <a:ext cx="906017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IN" sz="1000" dirty="0"/>
              <a:t>Store/fetch </a:t>
            </a:r>
          </a:p>
          <a:p>
            <a:pPr algn="ctr"/>
            <a:r>
              <a:rPr lang="en-IN" sz="1000" dirty="0"/>
              <a:t>from memory</a:t>
            </a:r>
          </a:p>
        </p:txBody>
      </p:sp>
      <p:sp>
        <p:nvSpPr>
          <p:cNvPr id="1059" name="TextBox 1058">
            <a:extLst>
              <a:ext uri="{FF2B5EF4-FFF2-40B4-BE49-F238E27FC236}">
                <a16:creationId xmlns:a16="http://schemas.microsoft.com/office/drawing/2014/main" id="{CF8309D1-6B4B-BF0F-7660-73D2FC6818DC}"/>
              </a:ext>
            </a:extLst>
          </p:cNvPr>
          <p:cNvSpPr txBox="1"/>
          <p:nvPr/>
        </p:nvSpPr>
        <p:spPr>
          <a:xfrm>
            <a:off x="8502553" y="3615811"/>
            <a:ext cx="530916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IN" sz="1000" dirty="0"/>
              <a:t>Create</a:t>
            </a:r>
          </a:p>
          <a:p>
            <a:pPr algn="ctr"/>
            <a:r>
              <a:rPr lang="en-IN" sz="1000" dirty="0"/>
              <a:t>task</a:t>
            </a:r>
          </a:p>
        </p:txBody>
      </p:sp>
      <p:sp>
        <p:nvSpPr>
          <p:cNvPr id="1060" name="TextBox 1059">
            <a:extLst>
              <a:ext uri="{FF2B5EF4-FFF2-40B4-BE49-F238E27FC236}">
                <a16:creationId xmlns:a16="http://schemas.microsoft.com/office/drawing/2014/main" id="{609E0F12-0327-8546-7A7E-772E5223E057}"/>
              </a:ext>
            </a:extLst>
          </p:cNvPr>
          <p:cNvSpPr txBox="1"/>
          <p:nvPr/>
        </p:nvSpPr>
        <p:spPr>
          <a:xfrm>
            <a:off x="8300302" y="2415400"/>
            <a:ext cx="893193" cy="400110"/>
          </a:xfrm>
          <a:prstGeom prst="rect">
            <a:avLst/>
          </a:prstGeom>
          <a:solidFill>
            <a:schemeClr val="bg1"/>
          </a:solidFill>
        </p:spPr>
        <p:txBody>
          <a:bodyPr wrap="none" rtlCol="0">
            <a:spAutoFit/>
          </a:bodyPr>
          <a:lstStyle/>
          <a:p>
            <a:pPr algn="ctr"/>
            <a:r>
              <a:rPr lang="en-IN" sz="1000" dirty="0"/>
              <a:t>Fetch/update</a:t>
            </a:r>
          </a:p>
          <a:p>
            <a:pPr algn="ctr"/>
            <a:r>
              <a:rPr lang="en-IN" sz="1000" dirty="0"/>
              <a:t>mail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EE598C-F6D1-B7F6-1A7F-35BF94F77FE5}"/>
              </a:ext>
            </a:extLst>
          </p:cNvPr>
          <p:cNvSpPr txBox="1"/>
          <p:nvPr/>
        </p:nvSpPr>
        <p:spPr>
          <a:xfrm>
            <a:off x="10987815" y="639465"/>
            <a:ext cx="566181" cy="60016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endParaRPr lang="en-IN" sz="1100" b="1" dirty="0"/>
          </a:p>
          <a:p>
            <a:endParaRPr lang="en-IN" sz="1100" b="1" dirty="0"/>
          </a:p>
          <a:p>
            <a:r>
              <a:rPr lang="en-IN" sz="1100" b="1" dirty="0">
                <a:solidFill>
                  <a:srgbClr val="FF0000"/>
                </a:solidFill>
              </a:rPr>
              <a:t>OAuth</a:t>
            </a:r>
          </a:p>
        </p:txBody>
      </p:sp>
      <p:pic>
        <p:nvPicPr>
          <p:cNvPr id="3" name="Graphic 2" descr="Lock with solid fill">
            <a:extLst>
              <a:ext uri="{FF2B5EF4-FFF2-40B4-BE49-F238E27FC236}">
                <a16:creationId xmlns:a16="http://schemas.microsoft.com/office/drawing/2014/main" id="{D8EF6E00-3A5B-A6E8-5737-BCDE72705CC8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1086239" y="660706"/>
            <a:ext cx="369332" cy="369332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84B7E09-7268-5062-B3B3-7F8830F1C766}"/>
              </a:ext>
            </a:extLst>
          </p:cNvPr>
          <p:cNvSpPr txBox="1"/>
          <p:nvPr/>
        </p:nvSpPr>
        <p:spPr>
          <a:xfrm>
            <a:off x="10987815" y="3042793"/>
            <a:ext cx="566181" cy="600164"/>
          </a:xfrm>
          <a:prstGeom prst="rect">
            <a:avLst/>
          </a:prstGeom>
          <a:solidFill>
            <a:schemeClr val="bg2">
              <a:lumMod val="90000"/>
            </a:schemeClr>
          </a:solidFill>
        </p:spPr>
        <p:txBody>
          <a:bodyPr wrap="none" rtlCol="0">
            <a:spAutoFit/>
          </a:bodyPr>
          <a:lstStyle/>
          <a:p>
            <a:endParaRPr lang="en-IN" sz="1100" b="1" dirty="0"/>
          </a:p>
          <a:p>
            <a:endParaRPr lang="en-IN" sz="1100" b="1" dirty="0"/>
          </a:p>
          <a:p>
            <a:r>
              <a:rPr lang="en-IN" sz="1100" b="1" dirty="0">
                <a:solidFill>
                  <a:srgbClr val="FF0000"/>
                </a:solidFill>
              </a:rPr>
              <a:t>OAuth</a:t>
            </a:r>
          </a:p>
        </p:txBody>
      </p:sp>
      <p:pic>
        <p:nvPicPr>
          <p:cNvPr id="10" name="Graphic 9" descr="Lock with solid fill">
            <a:extLst>
              <a:ext uri="{FF2B5EF4-FFF2-40B4-BE49-F238E27FC236}">
                <a16:creationId xmlns:a16="http://schemas.microsoft.com/office/drawing/2014/main" id="{810EAB12-A280-982B-2556-185E03F594AD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11086239" y="3064034"/>
            <a:ext cx="369332" cy="369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169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F46216B-77A9-411A-B9D3-5023FCB70208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16</TotalTime>
  <Words>196</Words>
  <Application>Microsoft Office PowerPoint</Application>
  <PresentationFormat>Widescreen</PresentationFormat>
  <Paragraphs>60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1_Office Theme</vt:lpstr>
      <vt:lpstr>PowerPoint Presentation</vt:lpstr>
      <vt:lpstr> Problem statement</vt:lpstr>
      <vt:lpstr>PowerPoint Presentation</vt:lpstr>
      <vt:lpstr>Digital Declutter Assistant - Architecture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Ayush Karn</dc:creator>
  <cp:lastModifiedBy>Ayush Karn</cp:lastModifiedBy>
  <cp:revision>3</cp:revision>
  <dcterms:created xsi:type="dcterms:W3CDTF">2025-12-01T06:06:02Z</dcterms:created>
  <dcterms:modified xsi:type="dcterms:W3CDTF">2025-12-01T11:52:31Z</dcterms:modified>
</cp:coreProperties>
</file>